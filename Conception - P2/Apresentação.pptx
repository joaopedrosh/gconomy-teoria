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6" r:id="rId4"/>
    <p:sldId id="274" r:id="rId5"/>
    <p:sldId id="259" r:id="rId6"/>
    <p:sldId id="272" r:id="rId7"/>
    <p:sldId id="275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771BB-E48D-4EB3-8997-A4A359E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B4FF51-4012-4544-B3E0-60D7D1AD0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E2DFF8-0431-4218-8773-C2E66496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57838-8EBB-4D00-B08C-BD3370B4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C3317-81E3-428C-B21C-7B353300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00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26706-9B59-4FD3-A892-EEC35735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8662-1082-44D5-BFB2-6362F3BFA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D121BC-94B2-4B86-8846-F48CE1C8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AEF520-C9D7-4BBA-A273-2055408D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F03962-3906-4C1B-8AA7-B3CBB2E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61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A3391-5A67-407A-BF5D-47902F13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9F1757-991C-433F-AC88-3AD8BF1B4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154234-0183-4757-8C53-C355CE88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EE8F8-F972-4348-AAB9-D97DAB3C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B1B73-A664-4AD6-97E2-19F861BE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5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94768-AEB5-42ED-8A24-5DB79E7C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15606-9E1E-4CF5-80A5-95A727EB2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9ECBB1-00B3-48AE-B09C-158AC290D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721C5F-2C43-4BD7-90AF-586EBD44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345206-8D12-4A83-A434-544FDD86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7E45E0-D68F-41A2-AFF2-EBDC57E4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03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4E4C3-F017-4FDB-BB18-866C842D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6F1350-F3E7-4F27-89C2-8B58F1DC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05BA3A-E9AA-4FA6-8941-4B84672F6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EEDA1D-D0A2-4D5F-AB69-4E7CF00CB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264977-6970-4178-8ED6-101C42714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5FA1B3-553A-49BC-A0AD-D0043C0D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43B4D3-3001-406E-A032-4674EC44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0455F8-37DB-4C4A-93C2-17165F2D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78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1F83F-DF7E-43E0-B6CE-A4B9FB55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714867-3A24-494F-931F-35454583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321027-0530-4B46-8A7D-115A84F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0A8E77-E0A3-4503-B639-A9CDD5D2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6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C2DEE7-CEA3-429A-B49D-0C8EB907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56F404-34DC-45BF-BF19-7B248540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9F09E8-6937-4AC4-B1D1-2CCFD76D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63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D547-C1A7-483C-80B6-5EFA619D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B73C6-1FBE-441D-A907-652B40336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BC0355-CA3E-48A8-970F-23662E75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9CF904-860E-4386-9A35-597012B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E5F399-ADB8-4C80-9306-768115F6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AD8A3C-DA74-4DB6-9229-521EF330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4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2FB15-F385-4117-B8C0-D485310E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CC5909-8BFD-4FA3-A197-147CD0C2F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F8628B-F0CD-41D0-9801-DB1D00156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7987FC-B331-4E23-AC39-FABC8E6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7FA0F-E2CC-4D92-8036-57FF2FAB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E20D6C-D562-4C3A-A470-83AC7F9D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90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807F0-6B55-47D1-B5E6-5EBCE34F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0A944B-CFD5-4A0E-B5FA-BBDED7CC6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1B217-764A-4EA2-B1D8-21487F97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F2E79-FB1C-4CAB-952E-A4F650B0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96CC97-1A26-421C-AD76-DA1B9178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30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5DC7ED-3E36-45E1-BC81-8CE329395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97525C-2BD1-44C4-8906-7A8813D4F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7CB2B-1AE1-4BC0-854C-B960E2AD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C059D-D586-4B00-9EC9-1A6DEA43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BF0ED-4B82-4F43-B299-1F657938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1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6317C4E-59AA-484A-B24D-7E67A57A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5A3214-6E39-4DF9-A4AB-C45C7868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FFB03E-AAA7-4E28-A7E1-B87D76190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6100E-E5FA-4846-9B25-3C8F521E2675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DA8DC7-3EAE-4794-A100-5F740146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363A2A-C521-467B-A26E-A842C5AEB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5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9E7595D-0655-422D-B323-B33CD412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3644" y="2251613"/>
            <a:ext cx="8424712" cy="1856935"/>
          </a:xfrm>
        </p:spPr>
        <p:txBody>
          <a:bodyPr>
            <a:normAutofit/>
          </a:bodyPr>
          <a:lstStyle/>
          <a:p>
            <a:b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FinançasFácil: </a:t>
            </a: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Um Software de Educação Financeira para Auxiliar Indivíduos de Média e Baixa Renda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7E2423-66FD-49DD-90DE-68183C2535B8}"/>
              </a:ext>
            </a:extLst>
          </p:cNvPr>
          <p:cNvSpPr txBox="1"/>
          <p:nvPr/>
        </p:nvSpPr>
        <p:spPr>
          <a:xfrm>
            <a:off x="283188" y="5728322"/>
            <a:ext cx="1046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Autores:  João Pedro P. Lima, Thiago Henry O. do Nascimento, Paulo Victor G. T. Pires</a:t>
            </a:r>
          </a:p>
          <a:p>
            <a:r>
              <a:rPr lang="pt-BR" dirty="0"/>
              <a:t>Orientador: Armando José de Sá Santos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153137-A0E0-42C2-BF13-5B287D746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422" y="253219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2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27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Introdução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028981" y="1295040"/>
            <a:ext cx="90909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Surgimento de novos produtos financeiros, novidades no mercado econômico, novas transações (Ferreira, Fiori et al, 2017 ).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Indivíduos de média e baixa renda se veem vulneráveis devido seu baixo poder aquisitivo e a falta de conhecimento financeiro (Rocha, 2020).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 educação financeira é o processo pelo qual os indivíduos melhoram a compreensão dos conceitos a respeito dos produtos financeiros (Ramos et al., 2017, apud OECD, 2005)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Pesquisa Global de Educação Financeira (2014)</a:t>
            </a:r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AF7E994-C8D1-4FEF-A98F-C264091A16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242" y="4857545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27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Introdução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068738" y="1668752"/>
            <a:ext cx="90909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Surgimento de novos produtos financeiros, novidades no mercado econômico, novas transações (Ferreira, Fiori et al, 2017 ).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Indivíduos de média e baixa renda se veem vulneráveis devido seu baixo poder aquisitivo e a falta de conhecimento financeiro (Rocha, 2020).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 educação financeira é o processo pelo qual os indivíduos melhoram a compreensão dos conceitos a respeito dos produtos financeiros (Ramos et al., 2017, apud OECD, 2005)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AF7E994-C8D1-4FEF-A98F-C264091A16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242" y="4857545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26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3EFBBAD-340E-4E99-BA3D-1C322FE19321}"/>
              </a:ext>
            </a:extLst>
          </p:cNvPr>
          <p:cNvSpPr txBox="1"/>
          <p:nvPr/>
        </p:nvSpPr>
        <p:spPr>
          <a:xfrm>
            <a:off x="604911" y="590842"/>
            <a:ext cx="4149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Problema e Hipótese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8CADCC-556F-470B-8F67-B477F7BD1976}"/>
              </a:ext>
            </a:extLst>
          </p:cNvPr>
          <p:cNvSpPr txBox="1"/>
          <p:nvPr/>
        </p:nvSpPr>
        <p:spPr>
          <a:xfrm>
            <a:off x="1148251" y="2090172"/>
            <a:ext cx="90909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pt-BR" sz="24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 que modo pode se educar financeiramente indivíduos de média e baixa renda?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Hipotetizamos que, um software com direcionamento de informações sobre conceitos do mercado econômico, entendimento dos produtos financeiros e seus impactos nas finanças pessoais, irá contribuir na educação financeira de indivíduos de média e baixa renda.</a:t>
            </a:r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427FC99-19B5-4D32-AFAC-4464EB29B8D9}"/>
              </a:ext>
            </a:extLst>
          </p:cNvPr>
          <p:cNvCxnSpPr>
            <a:cxnSpLocks/>
          </p:cNvCxnSpPr>
          <p:nvPr/>
        </p:nvCxnSpPr>
        <p:spPr>
          <a:xfrm>
            <a:off x="604911" y="1237173"/>
            <a:ext cx="45720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44C98FD1-9CE1-4A36-8CD9-A8CCED7A62D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242" y="4857545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3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92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Objetivos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021527" y="1481232"/>
            <a:ext cx="10332936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just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Geral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1"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esenvolver um software de educação financeira capaz de auxiliar indivíduos de média e baixa renda.</a:t>
            </a:r>
          </a:p>
          <a:p>
            <a:pPr marL="0" lvl="1" algn="just"/>
            <a:endParaRPr lang="pt-BR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lvl="1"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Específicos </a:t>
            </a:r>
          </a:p>
          <a:p>
            <a:pPr algn="just"/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Auxiliar na educação financeira de indivíduos de média e baixa renda;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111760" algn="just" rtl="0">
              <a:spcBef>
                <a:spcPts val="600"/>
              </a:spcBef>
              <a:spcAft>
                <a:spcPts val="0"/>
              </a:spcAft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Proporcionar conhecimento dos produtos e conceitos do mercado financeiro atual; </a:t>
            </a:r>
          </a:p>
          <a:p>
            <a:pPr marR="111760" algn="just" rtl="0">
              <a:spcBef>
                <a:spcPts val="600"/>
              </a:spcBef>
              <a:spcAft>
                <a:spcPts val="0"/>
              </a:spcAft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Proporcionar ao público-alvo o conhecimento necessário para identificar os impactos dos produtos financeiros nas finanças pessoais.</a:t>
            </a:r>
          </a:p>
          <a:p>
            <a:pPr marR="111760" indent="385229" algn="just" rtl="0">
              <a:spcBef>
                <a:spcPts val="590"/>
              </a:spcBef>
              <a:spcAft>
                <a:spcPts val="0"/>
              </a:spcAft>
            </a:pPr>
            <a:endParaRPr lang="pt-BR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pt-BR" sz="2000" dirty="0"/>
            </a:b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B052D1D-8893-4134-9EFF-88F75A6066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242" y="4857545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5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374281"/>
            <a:ext cx="2656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Metodologia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020612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771889" y="1321104"/>
            <a:ext cx="923085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Tipo de abordagem: Pesquisa qualitativa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Procedimentos para coleta de dados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Pesquisa Bibliográfica</a:t>
            </a:r>
          </a:p>
          <a:p>
            <a:pPr lvl="2"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- Google Scholar, SCielo e Periódicos da Capes	</a:t>
            </a:r>
          </a:p>
          <a:p>
            <a:pPr lvl="2"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Levantamento de Requisitos (Entrevista)</a:t>
            </a:r>
          </a:p>
          <a:p>
            <a:pPr lvl="3" algn="just"/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 Formulário online com GForms</a:t>
            </a:r>
          </a:p>
          <a:p>
            <a:pPr lvl="3"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-  Compartilhamento no Whatsapp, Instagram e Facebook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 algn="just"/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Delimitação: Inclusão de indivíduos com renda mensal pessoal de até 3 salários mínimos.</a:t>
            </a: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792E3E-C3E7-43A0-9429-7B41EC78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242" y="4857545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375554"/>
            <a:ext cx="2656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Metodologia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036947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074650" y="1052010"/>
            <a:ext cx="90909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Modelagem de dados </a:t>
            </a:r>
          </a:p>
          <a:p>
            <a:pPr lvl="2"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- Ferramenta: Wordershare EdrawMax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Codificação da aplicação </a:t>
            </a:r>
          </a:p>
          <a:p>
            <a:pPr lvl="2"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-Linguagem : React Native</a:t>
            </a:r>
          </a:p>
          <a:p>
            <a:pPr lvl="2" algn="just"/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-Plataforma de desenvolvimento: Visual Studio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Testes de Usabilidade</a:t>
            </a: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- Metodologia: Métricas de IHC</a:t>
            </a: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	- Técnica: Captura de opiniões dos usuários</a:t>
            </a:r>
          </a:p>
          <a:p>
            <a:pPr algn="just"/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	Ferramenta: GForms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4CE02D-6AF7-45C8-9DA2-79961510DF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3" b="98250" l="4425" r="96195">
                        <a14:foregroundMark x1="4425" y1="83917" x2="96195" y2="90667"/>
                        <a14:foregroundMark x1="88053" y1="83917" x2="96195" y2="84750"/>
                        <a14:foregroundMark x1="49381" y1="92333" x2="48496" y2="94917"/>
                        <a14:foregroundMark x1="51150" y1="98333" x2="50265" y2="89833"/>
                        <a14:foregroundMark x1="85398" y1="90667" x2="85398" y2="90667"/>
                        <a14:foregroundMark x1="90796" y1="90667" x2="90796" y2="90667"/>
                        <a14:foregroundMark x1="94425" y1="90667" x2="81770" y2="90667"/>
                        <a14:foregroundMark x1="56549" y1="11000" x2="49381" y2="2583"/>
                        <a14:foregroundMark x1="35929" y1="15250" x2="27788" y2="14417"/>
                        <a14:foregroundMark x1="36814" y1="73750" x2="36814" y2="73750"/>
                        <a14:foregroundMark x1="34956" y1="72917" x2="62035" y2="75417"/>
                        <a14:foregroundMark x1="66460" y1="74583" x2="29558" y2="68667"/>
                        <a14:foregroundMark x1="36814" y1="72000" x2="57522" y2="70333"/>
                        <a14:foregroundMark x1="64690" y1="74583" x2="45752" y2="67833"/>
                        <a14:foregroundMark x1="46726" y1="72000" x2="46726" y2="72000"/>
                        <a14:foregroundMark x1="62920" y1="72000" x2="35929" y2="70333"/>
                        <a14:foregroundMark x1="64690" y1="11833" x2="70973" y2="3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242" y="4857545"/>
            <a:ext cx="1563156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541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439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Tema do Office</vt:lpstr>
      <vt:lpstr>  FinançasFácil: Um Software de Educação Financeira para Auxiliar Indivíduos de Média e Baixa Renda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Gconomy: Um Aplicativo para Auxílio no Ensino Financeiro e Práticas de Investimentos para Indivíduos de Média e Baixa Renda </dc:title>
  <dc:creator>Josué</dc:creator>
  <cp:lastModifiedBy>João Pedro Pereira Lima</cp:lastModifiedBy>
  <cp:revision>12</cp:revision>
  <dcterms:created xsi:type="dcterms:W3CDTF">2021-08-25T12:13:07Z</dcterms:created>
  <dcterms:modified xsi:type="dcterms:W3CDTF">2021-11-01T03:57:58Z</dcterms:modified>
</cp:coreProperties>
</file>