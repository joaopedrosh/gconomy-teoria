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72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37" d="100"/>
          <a:sy n="37" d="100"/>
        </p:scale>
        <p:origin x="1062" y="9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4771BB-E48D-4EB3-8997-A4A359EF0D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1B4FF51-4012-4544-B3E0-60D7D1AD01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AE2DFF8-0431-4218-8773-C2E664961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6100E-E5FA-4846-9B25-3C8F521E2675}" type="datetimeFigureOut">
              <a:rPr lang="pt-BR" smtClean="0"/>
              <a:t>27/08/2021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E257838-8EBB-4D00-B08C-BD3370B45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E2C3317-81E3-428C-B21C-7B353300E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F0D15-111A-43A2-BF61-8E4DF67734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80009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126706-9B59-4FD3-A892-EEC357351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1F28662-1082-44D5-BFB2-6362F3BFAD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FD121BC-94B2-4B86-8846-F48CE1C86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6100E-E5FA-4846-9B25-3C8F521E2675}" type="datetimeFigureOut">
              <a:rPr lang="pt-BR" smtClean="0"/>
              <a:t>27/08/2021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3AEF520-C9D7-4BBA-A273-2055408D3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9F03962-3906-4C1B-8AA7-B3CBB2EC1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F0D15-111A-43A2-BF61-8E4DF67734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16127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0A3391-5A67-407A-BF5D-47902F131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C9F1757-991C-433F-AC88-3AD8BF1B4C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C154234-0183-4757-8C53-C355CE881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6100E-E5FA-4846-9B25-3C8F521E2675}" type="datetimeFigureOut">
              <a:rPr lang="pt-BR" smtClean="0"/>
              <a:t>27/08/2021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C0EE8F8-F972-4348-AAB9-D97DAB3C9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5AB1B73-A664-4AD6-97E2-19F861BEE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F0D15-111A-43A2-BF61-8E4DF67734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36569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E94768-AEB5-42ED-8A24-5DB79E7CC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6815606-9E1E-4CF5-80A5-95A727EB2D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99ECBB1-00B3-48AE-B09C-158AC290DF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721C5F-2C43-4BD7-90AF-586EBD44A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6100E-E5FA-4846-9B25-3C8F521E2675}" type="datetimeFigureOut">
              <a:rPr lang="pt-BR" smtClean="0"/>
              <a:t>27/08/2021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0345206-8D12-4A83-A434-544FDD860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47E45E0-D68F-41A2-AFF2-EBDC57E4E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F0D15-111A-43A2-BF61-8E4DF67734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110389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14E4C3-F017-4FDB-BB18-866C842D2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C6F1350-F3E7-4F27-89C2-8B58F1DC1D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F05BA3A-E9AA-4FA6-8941-4B84672F6D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5EEDA1D-D0A2-4D5F-AB69-4E7CF00CB2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8264977-6970-4178-8ED6-101C42714A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D5FA1B3-553A-49BC-A0AD-D0043C0D2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6100E-E5FA-4846-9B25-3C8F521E2675}" type="datetimeFigureOut">
              <a:rPr lang="pt-BR" smtClean="0"/>
              <a:t>27/08/2021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B43B4D3-3001-406E-A032-4674EC44E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020455F8-37DB-4C4A-93C2-17165F2DD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F0D15-111A-43A2-BF61-8E4DF67734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97842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F1F83F-DF7E-43E0-B6CE-A4B9FB55C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CE714867-3A24-494F-931F-35454583B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6100E-E5FA-4846-9B25-3C8F521E2675}" type="datetimeFigureOut">
              <a:rPr lang="pt-BR" smtClean="0"/>
              <a:t>27/08/2021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9321027-0530-4B46-8A7D-115A84F00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40A8E77-E0A3-4503-B639-A9CDD5D2D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F0D15-111A-43A2-BF61-8E4DF67734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19666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AC2DEE7-CEA3-429A-B49D-0C8EB9078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6100E-E5FA-4846-9B25-3C8F521E2675}" type="datetimeFigureOut">
              <a:rPr lang="pt-BR" smtClean="0"/>
              <a:t>27/08/2021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456F404-34DC-45BF-BF19-7B248540B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D9F09E8-6937-4AC4-B1D1-2CCFD76D5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F0D15-111A-43A2-BF61-8E4DF67734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526350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3AD547-C1A7-483C-80B6-5EFA619D5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D3B73C6-1FBE-441D-A907-652B40336F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1BC0355-CA3E-48A8-970F-23662E7570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59CF904-860E-4386-9A35-597012B6B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6100E-E5FA-4846-9B25-3C8F521E2675}" type="datetimeFigureOut">
              <a:rPr lang="pt-BR" smtClean="0"/>
              <a:t>27/08/2021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4E5F399-ADB8-4C80-9306-768115F62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7AD8A3C-DA74-4DB6-9229-521EF330F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F0D15-111A-43A2-BF61-8E4DF67734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18480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22FB15-F385-4117-B8C0-D485310ED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1CC5909-8BFD-4FA3-A197-147CD0C2FE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4F8628B-F0CD-41D0-9801-DB1D001565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27987FC-B331-4E23-AC39-FABC8E6D7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6100E-E5FA-4846-9B25-3C8F521E2675}" type="datetimeFigureOut">
              <a:rPr lang="pt-BR" smtClean="0"/>
              <a:t>27/08/2021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7C7FA0F-E2CC-4D92-8036-57FF2FABF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DE20D6C-D562-4C3A-A470-83AC7F9DF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F0D15-111A-43A2-BF61-8E4DF67734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6901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7807F0-6B55-47D1-B5E6-5EBCE34FD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C0A944B-CFD5-4A0E-B5FA-BBDED7CC65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F81B217-764A-4EA2-B1D8-21487F974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6100E-E5FA-4846-9B25-3C8F521E2675}" type="datetimeFigureOut">
              <a:rPr lang="pt-BR" smtClean="0"/>
              <a:t>27/08/2021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D1F2E79-FB1C-4CAB-952E-A4F650B07A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A96CC97-1A26-421C-AD76-DA1B91784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F0D15-111A-43A2-BF61-8E4DF67734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63058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25DC7ED-3E36-45E1-BC81-8CE3293959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797525C-2BD1-44C4-8906-7A8813D4FB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4D7CB2B-1AE1-4BC0-854C-B960E2AD0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6100E-E5FA-4846-9B25-3C8F521E2675}" type="datetimeFigureOut">
              <a:rPr lang="pt-BR" smtClean="0"/>
              <a:t>27/08/2021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6AC059D-D586-4B00-9EC9-1A6DEA430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06BF0ED-4B82-4F43-B299-1F6579381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F0D15-111A-43A2-BF61-8E4DF67734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0136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800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26317C4E-59AA-484A-B24D-7E67A57A6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95A3214-6E39-4DF9-A4AB-C45C78687E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4FFB03E-AAA7-4E28-A7E1-B87D761901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26100E-E5FA-4846-9B25-3C8F521E2675}" type="datetimeFigureOut">
              <a:rPr lang="pt-BR" smtClean="0"/>
              <a:t>27/08/2021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7DA8DC7-3EAE-4794-A100-5F7401469E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F363A2A-C521-467B-A26E-A842C5AEB9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7F0D15-111A-43A2-BF61-8E4DF67734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97543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D9E7595D-0655-422D-B323-B33CD41281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783" y="-277091"/>
            <a:ext cx="7885043" cy="2387600"/>
          </a:xfrm>
        </p:spPr>
        <p:txBody>
          <a:bodyPr>
            <a:normAutofit/>
          </a:bodyPr>
          <a:lstStyle/>
          <a:p>
            <a:br>
              <a:rPr lang="pt-BR" sz="36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</a:br>
            <a:r>
              <a:rPr lang="pt-BR" sz="36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pt-BR" sz="36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Gconomy: </a:t>
            </a:r>
            <a:r>
              <a:rPr lang="pt-BR" sz="24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Um Aplicativo para Auxílio no Ensino Financeiro e Práticas de Investimentos para Indivíduos de Média e Baixa Renda </a:t>
            </a:r>
            <a:endParaRPr lang="pt-BR" sz="96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C7E2423-66FD-49DD-90DE-68183C2535B8}"/>
              </a:ext>
            </a:extLst>
          </p:cNvPr>
          <p:cNvSpPr txBox="1"/>
          <p:nvPr/>
        </p:nvSpPr>
        <p:spPr>
          <a:xfrm>
            <a:off x="198783" y="5431634"/>
            <a:ext cx="72091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Autores:  João Pedro Pereira Lima, Josué Araújo Moreira , Thiago Henry </a:t>
            </a:r>
          </a:p>
          <a:p>
            <a:r>
              <a:rPr lang="pt-BR" dirty="0"/>
              <a:t>Orientador: Armando José de Sá Santos</a:t>
            </a:r>
          </a:p>
          <a:p>
            <a:endParaRPr lang="pt-BR" dirty="0"/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A9AEC8C6-813B-4A89-AE3D-86C9A300F3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2223" y="556354"/>
            <a:ext cx="2206022" cy="247837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062212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D70BFC5C-FA97-410F-A0A1-787B45309C13}"/>
              </a:ext>
            </a:extLst>
          </p:cNvPr>
          <p:cNvSpPr txBox="1"/>
          <p:nvPr/>
        </p:nvSpPr>
        <p:spPr>
          <a:xfrm>
            <a:off x="604911" y="590842"/>
            <a:ext cx="16658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i="1" dirty="0"/>
              <a:t>Agenda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CBCF3621-3647-4044-990B-EFE5902C62C3}"/>
              </a:ext>
            </a:extLst>
          </p:cNvPr>
          <p:cNvSpPr txBox="1"/>
          <p:nvPr/>
        </p:nvSpPr>
        <p:spPr>
          <a:xfrm>
            <a:off x="604911" y="1860024"/>
            <a:ext cx="4430915" cy="4204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/>
              <a:t>INTRODUÇÃO E JUSTIICATIVA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/>
              <a:t>OBJETIVOS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/>
              <a:t>METODOLOGIA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/>
              <a:t>RESULTADOS ESPERADOS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/>
              <a:t>TRABALHOS CORRELATOS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/>
              <a:t>IMPACTOS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/>
              <a:t>CRONOGRAMA DE EXECUÇÃO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/>
              <a:t>ORÇAMENTOS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/>
              <a:t>REFERÊNCIAS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BR" dirty="0"/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34A1ACF9-A571-4064-9DB8-9E8B225E7973}"/>
              </a:ext>
            </a:extLst>
          </p:cNvPr>
          <p:cNvCxnSpPr/>
          <p:nvPr/>
        </p:nvCxnSpPr>
        <p:spPr>
          <a:xfrm>
            <a:off x="604911" y="1237173"/>
            <a:ext cx="3405809" cy="0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62013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D70BFC5C-FA97-410F-A0A1-787B45309C13}"/>
              </a:ext>
            </a:extLst>
          </p:cNvPr>
          <p:cNvSpPr txBox="1"/>
          <p:nvPr/>
        </p:nvSpPr>
        <p:spPr>
          <a:xfrm>
            <a:off x="604911" y="590842"/>
            <a:ext cx="22751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i="1" dirty="0"/>
              <a:t>Introdução</a:t>
            </a:r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029D7320-DAE4-47BA-8C3D-5DA72FC632EE}"/>
              </a:ext>
            </a:extLst>
          </p:cNvPr>
          <p:cNvCxnSpPr/>
          <p:nvPr/>
        </p:nvCxnSpPr>
        <p:spPr>
          <a:xfrm>
            <a:off x="604911" y="1237173"/>
            <a:ext cx="3405809" cy="0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CaixaDeTexto 6">
            <a:extLst>
              <a:ext uri="{FF2B5EF4-FFF2-40B4-BE49-F238E27FC236}">
                <a16:creationId xmlns:a16="http://schemas.microsoft.com/office/drawing/2014/main" id="{F9CCBB2E-0EBE-4BE2-96AC-E88E7A8D4FF0}"/>
              </a:ext>
            </a:extLst>
          </p:cNvPr>
          <p:cNvSpPr txBox="1"/>
          <p:nvPr/>
        </p:nvSpPr>
        <p:spPr>
          <a:xfrm>
            <a:off x="1148251" y="1417983"/>
            <a:ext cx="909099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pt-BR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Desde a predominância do capitalismo como o sistema socioeconômico em diversos países do planeta, foram acontecendo muitas mudanças e </a:t>
            </a:r>
            <a:r>
              <a:rPr lang="pt-BR" sz="1800" b="0" i="1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upgrades 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na economia mundial e consequentemente na brasileira.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lang="pt-BR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Ferreia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, Fiori et al, 2017 ) Novos produtos  e </a:t>
            </a:r>
            <a:r>
              <a:rPr lang="pt-BR" dirty="0">
                <a:solidFill>
                  <a:srgbClr val="000000"/>
                </a:solidFill>
                <a:latin typeface="Times New Roman" panose="02020603050405020304" pitchFamily="18" charset="0"/>
              </a:rPr>
              <a:t> Transações.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6642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D70BFC5C-FA97-410F-A0A1-787B45309C13}"/>
              </a:ext>
            </a:extLst>
          </p:cNvPr>
          <p:cNvSpPr txBox="1"/>
          <p:nvPr/>
        </p:nvSpPr>
        <p:spPr>
          <a:xfrm>
            <a:off x="604911" y="91329"/>
            <a:ext cx="26564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i="1" dirty="0"/>
              <a:t>Metodologia</a:t>
            </a:r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029D7320-DAE4-47BA-8C3D-5DA72FC632EE}"/>
              </a:ext>
            </a:extLst>
          </p:cNvPr>
          <p:cNvCxnSpPr/>
          <p:nvPr/>
        </p:nvCxnSpPr>
        <p:spPr>
          <a:xfrm>
            <a:off x="604911" y="682987"/>
            <a:ext cx="3405809" cy="0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CaixaDeTexto 6">
            <a:extLst>
              <a:ext uri="{FF2B5EF4-FFF2-40B4-BE49-F238E27FC236}">
                <a16:creationId xmlns:a16="http://schemas.microsoft.com/office/drawing/2014/main" id="{F9CCBB2E-0EBE-4BE2-96AC-E88E7A8D4FF0}"/>
              </a:ext>
            </a:extLst>
          </p:cNvPr>
          <p:cNvSpPr txBox="1"/>
          <p:nvPr/>
        </p:nvSpPr>
        <p:spPr>
          <a:xfrm>
            <a:off x="604911" y="683013"/>
            <a:ext cx="9090991" cy="7478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Tipo de abordagem: Pesquisa quantitativa</a:t>
            </a:r>
            <a:endParaRPr lang="pt-BR" sz="20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sz="20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Análise da situação socioeconômica do publico alvo e para levantamento e análise de requisitos.</a:t>
            </a:r>
          </a:p>
          <a:p>
            <a:pPr lvl="2" algn="just"/>
            <a:r>
              <a:rPr lang="pt-BR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-Tipo de Pesquisa: Descritiva</a:t>
            </a:r>
            <a:endParaRPr lang="pt-BR" sz="20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just"/>
            <a:r>
              <a:rPr lang="pt-BR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	-Ferramentas: Gforms, WhatsApp , Instagram, Facebook</a:t>
            </a:r>
          </a:p>
          <a:p>
            <a:pPr algn="just"/>
            <a:endParaRPr lang="pt-BR" sz="20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Observação dos dados coletados</a:t>
            </a:r>
          </a:p>
          <a:p>
            <a:pPr lvl="1" algn="just"/>
            <a:r>
              <a:rPr lang="pt-BR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      -Tipo de Análise: Estatística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endParaRPr lang="pt-BR" sz="20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Modelagem de dados </a:t>
            </a:r>
          </a:p>
          <a:p>
            <a:pPr lvl="2" algn="just"/>
            <a:r>
              <a:rPr lang="pt-BR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- Ferramenta: </a:t>
            </a:r>
            <a:r>
              <a:rPr lang="pt-BR" sz="2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Wordershare</a:t>
            </a:r>
            <a:r>
              <a:rPr lang="pt-BR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EdrawMax</a:t>
            </a:r>
            <a:endParaRPr lang="pt-BR" sz="20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sz="20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Codificação da aplicação </a:t>
            </a:r>
          </a:p>
          <a:p>
            <a:pPr lvl="2" algn="just"/>
            <a:r>
              <a:rPr lang="pt-BR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-Linguagem : React Native</a:t>
            </a:r>
          </a:p>
          <a:p>
            <a:pPr lvl="2" algn="just"/>
            <a:r>
              <a:rPr lang="pt-BR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-Plataforma de desenvolvimento: Visual Studio Code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sz="20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 Testes de Usabilidade</a:t>
            </a:r>
          </a:p>
          <a:p>
            <a:pPr algn="just"/>
            <a:r>
              <a:rPr lang="pt-BR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      - Metodologia: Métricas de IHC</a:t>
            </a:r>
          </a:p>
          <a:p>
            <a:pPr algn="just"/>
            <a:r>
              <a:rPr lang="pt-BR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      - Ferramenta: </a:t>
            </a:r>
            <a:r>
              <a:rPr lang="pt-BR" sz="2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GoogleForms</a:t>
            </a:r>
            <a:endParaRPr lang="pt-BR" sz="20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sz="20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just"/>
            <a:endParaRPr lang="pt-BR" sz="20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sz="20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32093430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D70BFC5C-FA97-410F-A0A1-787B45309C13}"/>
              </a:ext>
            </a:extLst>
          </p:cNvPr>
          <p:cNvSpPr txBox="1"/>
          <p:nvPr/>
        </p:nvSpPr>
        <p:spPr>
          <a:xfrm>
            <a:off x="604911" y="590842"/>
            <a:ext cx="19927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i="1" dirty="0"/>
              <a:t>Objetivos</a:t>
            </a:r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029D7320-DAE4-47BA-8C3D-5DA72FC632EE}"/>
              </a:ext>
            </a:extLst>
          </p:cNvPr>
          <p:cNvCxnSpPr/>
          <p:nvPr/>
        </p:nvCxnSpPr>
        <p:spPr>
          <a:xfrm>
            <a:off x="604911" y="1237173"/>
            <a:ext cx="3405809" cy="0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CaixaDeTexto 6">
            <a:extLst>
              <a:ext uri="{FF2B5EF4-FFF2-40B4-BE49-F238E27FC236}">
                <a16:creationId xmlns:a16="http://schemas.microsoft.com/office/drawing/2014/main" id="{F9CCBB2E-0EBE-4BE2-96AC-E88E7A8D4FF0}"/>
              </a:ext>
            </a:extLst>
          </p:cNvPr>
          <p:cNvSpPr txBox="1"/>
          <p:nvPr/>
        </p:nvSpPr>
        <p:spPr>
          <a:xfrm>
            <a:off x="1148251" y="1417983"/>
            <a:ext cx="9090991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Geral </a:t>
            </a:r>
            <a:endParaRPr lang="pt-BR" sz="24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lvl="1" algn="just"/>
            <a:r>
              <a:rPr lang="pt-BR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Desenvolver uma aplicação a fim de auxiliar indivíduos de média e baixa renda quanto a finanças, visando a aprendizagem e o direcionamento para o ramo dos investimentos. </a:t>
            </a:r>
          </a:p>
          <a:p>
            <a:endParaRPr lang="pt-BR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Específicos </a:t>
            </a:r>
            <a:endParaRPr lang="pt-BR" sz="24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</a:pPr>
            <a:r>
              <a:rPr lang="pt-BR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- </a:t>
            </a:r>
            <a:r>
              <a:rPr lang="pt-BR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Analisar a situação socioeconômica dos indivíduos e seus níveis de conhecimento quanto a finanças e investimentos. </a:t>
            </a:r>
          </a:p>
          <a:p>
            <a:pPr lvl="1" algn="just">
              <a:lnSpc>
                <a:spcPct val="150000"/>
              </a:lnSpc>
            </a:pPr>
            <a:r>
              <a:rPr lang="pt-BR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-</a:t>
            </a:r>
            <a:r>
              <a:rPr lang="pt-BR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Realizar levantamento e análise de requisitos. </a:t>
            </a:r>
          </a:p>
          <a:p>
            <a:pPr lvl="1" algn="just">
              <a:lnSpc>
                <a:spcPct val="150000"/>
              </a:lnSpc>
            </a:pPr>
            <a:r>
              <a:rPr lang="pt-BR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-</a:t>
            </a:r>
            <a:r>
              <a:rPr lang="pt-BR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Realizar a modelagem e diagramação. </a:t>
            </a:r>
          </a:p>
          <a:p>
            <a:pPr lvl="1" algn="just">
              <a:lnSpc>
                <a:spcPct val="150000"/>
              </a:lnSpc>
            </a:pPr>
            <a:r>
              <a:rPr lang="pt-BR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-</a:t>
            </a:r>
            <a:r>
              <a:rPr lang="pt-BR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Realizar a codificação do sistema. </a:t>
            </a:r>
          </a:p>
          <a:p>
            <a:pPr lvl="1" algn="just">
              <a:lnSpc>
                <a:spcPct val="150000"/>
              </a:lnSpc>
            </a:pPr>
            <a:r>
              <a:rPr lang="pt-BR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-</a:t>
            </a:r>
            <a:r>
              <a:rPr lang="pt-BR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Realizar o teste usabilidade do software. </a:t>
            </a:r>
          </a:p>
          <a:p>
            <a:pPr algn="l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276574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D70BFC5C-FA97-410F-A0A1-787B45309C13}"/>
              </a:ext>
            </a:extLst>
          </p:cNvPr>
          <p:cNvSpPr txBox="1"/>
          <p:nvPr/>
        </p:nvSpPr>
        <p:spPr>
          <a:xfrm>
            <a:off x="604911" y="590842"/>
            <a:ext cx="43227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i="1" dirty="0"/>
              <a:t>Resultados Esperados</a:t>
            </a:r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029D7320-DAE4-47BA-8C3D-5DA72FC632EE}"/>
              </a:ext>
            </a:extLst>
          </p:cNvPr>
          <p:cNvCxnSpPr/>
          <p:nvPr/>
        </p:nvCxnSpPr>
        <p:spPr>
          <a:xfrm>
            <a:off x="604911" y="1237173"/>
            <a:ext cx="3405809" cy="0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CaixaDeTexto 6">
            <a:extLst>
              <a:ext uri="{FF2B5EF4-FFF2-40B4-BE49-F238E27FC236}">
                <a16:creationId xmlns:a16="http://schemas.microsoft.com/office/drawing/2014/main" id="{F9CCBB2E-0EBE-4BE2-96AC-E88E7A8D4FF0}"/>
              </a:ext>
            </a:extLst>
          </p:cNvPr>
          <p:cNvSpPr txBox="1"/>
          <p:nvPr/>
        </p:nvSpPr>
        <p:spPr>
          <a:xfrm>
            <a:off x="1148251" y="1417983"/>
            <a:ext cx="9090991" cy="44781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BR" sz="1800" b="0" i="0" u="none" strike="noStrike" baseline="0" dirty="0">
              <a:solidFill>
                <a:srgbClr val="000000"/>
              </a:solidFill>
              <a:latin typeface="Symbol" panose="05050102010706020507" pitchFamily="18" charset="2"/>
            </a:endParaRPr>
          </a:p>
          <a:p>
            <a:pPr marL="179388" indent="-179388" algn="just">
              <a:lnSpc>
                <a:spcPct val="150000"/>
              </a:lnSpc>
            </a:pPr>
            <a:r>
              <a:rPr lang="pt-BR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- Contribuir para a compreensão e práticas de indivíduos de renda média e baixa diante suas finanças e investimentos, visando o crescimento econômico para sustento e realização de sonhos do mesmo. </a:t>
            </a:r>
          </a:p>
          <a:p>
            <a:pPr algn="just">
              <a:lnSpc>
                <a:spcPct val="150000"/>
              </a:lnSpc>
            </a:pPr>
            <a:r>
              <a:rPr lang="pt-BR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- Ter uma base para um futuro trabalho de conclusão de curso. </a:t>
            </a:r>
          </a:p>
          <a:p>
            <a:pPr algn="just">
              <a:lnSpc>
                <a:spcPct val="150000"/>
              </a:lnSpc>
            </a:pPr>
            <a:r>
              <a:rPr lang="pt-BR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- Criação e Patente do aplicativo para o ensino em finanças e investimentos. </a:t>
            </a:r>
          </a:p>
          <a:p>
            <a:pPr marL="179388" indent="-179388" algn="just">
              <a:lnSpc>
                <a:spcPct val="150000"/>
              </a:lnSpc>
            </a:pPr>
            <a:r>
              <a:rPr lang="pt-BR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- Disponibilizar o referente projeto para futuras pesquisas na Biblioteca da Universidade do Estado do Pará. </a:t>
            </a:r>
          </a:p>
          <a:p>
            <a:pPr algn="just">
              <a:lnSpc>
                <a:spcPct val="150000"/>
              </a:lnSpc>
            </a:pPr>
            <a:r>
              <a:rPr lang="pt-BR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- Submeter artigos em eventos acadêmicos e científicos.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19128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D70BFC5C-FA97-410F-A0A1-787B45309C13}"/>
              </a:ext>
            </a:extLst>
          </p:cNvPr>
          <p:cNvSpPr txBox="1"/>
          <p:nvPr/>
        </p:nvSpPr>
        <p:spPr>
          <a:xfrm>
            <a:off x="604911" y="590842"/>
            <a:ext cx="41471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i="1" dirty="0"/>
              <a:t>Trabalhos Correlatos</a:t>
            </a:r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029D7320-DAE4-47BA-8C3D-5DA72FC632EE}"/>
              </a:ext>
            </a:extLst>
          </p:cNvPr>
          <p:cNvCxnSpPr/>
          <p:nvPr/>
        </p:nvCxnSpPr>
        <p:spPr>
          <a:xfrm>
            <a:off x="604911" y="1237173"/>
            <a:ext cx="3405809" cy="0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CaixaDeTexto 6">
            <a:extLst>
              <a:ext uri="{FF2B5EF4-FFF2-40B4-BE49-F238E27FC236}">
                <a16:creationId xmlns:a16="http://schemas.microsoft.com/office/drawing/2014/main" id="{F9CCBB2E-0EBE-4BE2-96AC-E88E7A8D4FF0}"/>
              </a:ext>
            </a:extLst>
          </p:cNvPr>
          <p:cNvSpPr txBox="1"/>
          <p:nvPr/>
        </p:nvSpPr>
        <p:spPr>
          <a:xfrm>
            <a:off x="604911" y="1625801"/>
            <a:ext cx="11249891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BR" sz="1800" b="0" i="0" u="none" strike="noStrike" baseline="0" dirty="0">
              <a:solidFill>
                <a:srgbClr val="000000"/>
              </a:solidFill>
              <a:latin typeface="Symbol" panose="05050102010706020507" pitchFamily="18" charset="2"/>
            </a:endParaRPr>
          </a:p>
          <a:p>
            <a:pPr marL="179388" indent="-179388" algn="just">
              <a:lnSpc>
                <a:spcPct val="150000"/>
              </a:lnSpc>
            </a:pP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</a:p>
          <a:p>
            <a:pPr marL="285750" indent="-285750" algn="l">
              <a:buFontTx/>
              <a:buChar char="-"/>
            </a:pPr>
            <a:r>
              <a:rPr lang="pt-BR" sz="2000" dirty="0"/>
              <a:t>Nico: Aplicativo para Auxiliar na educação Financeira de Crianças do Ensino Fundamental (Pontes,2017)</a:t>
            </a:r>
          </a:p>
          <a:p>
            <a:pPr marL="285750" indent="-285750" algn="l">
              <a:buFontTx/>
              <a:buChar char="-"/>
            </a:pPr>
            <a:endParaRPr lang="pt-BR" sz="2000" dirty="0"/>
          </a:p>
          <a:p>
            <a:pPr marL="285750" indent="-285750" algn="l">
              <a:buFontTx/>
              <a:buChar char="-"/>
            </a:pPr>
            <a:r>
              <a:rPr lang="pt-BR" sz="2000" dirty="0"/>
              <a:t>Desenvolvimento de um aplicativo para controle financeiro pessoal (Ramos,2021)</a:t>
            </a:r>
          </a:p>
          <a:p>
            <a:pPr algn="l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308033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D70BFC5C-FA97-410F-A0A1-787B45309C13}"/>
              </a:ext>
            </a:extLst>
          </p:cNvPr>
          <p:cNvSpPr txBox="1"/>
          <p:nvPr/>
        </p:nvSpPr>
        <p:spPr>
          <a:xfrm>
            <a:off x="604911" y="590842"/>
            <a:ext cx="19366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i="1" dirty="0"/>
              <a:t>Impactos</a:t>
            </a:r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029D7320-DAE4-47BA-8C3D-5DA72FC632EE}"/>
              </a:ext>
            </a:extLst>
          </p:cNvPr>
          <p:cNvCxnSpPr/>
          <p:nvPr/>
        </p:nvCxnSpPr>
        <p:spPr>
          <a:xfrm>
            <a:off x="604911" y="1237173"/>
            <a:ext cx="3405809" cy="0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CaixaDeTexto 6">
            <a:extLst>
              <a:ext uri="{FF2B5EF4-FFF2-40B4-BE49-F238E27FC236}">
                <a16:creationId xmlns:a16="http://schemas.microsoft.com/office/drawing/2014/main" id="{F9CCBB2E-0EBE-4BE2-96AC-E88E7A8D4FF0}"/>
              </a:ext>
            </a:extLst>
          </p:cNvPr>
          <p:cNvSpPr txBox="1"/>
          <p:nvPr/>
        </p:nvSpPr>
        <p:spPr>
          <a:xfrm>
            <a:off x="604911" y="1625801"/>
            <a:ext cx="11249891" cy="1883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pt-BR" sz="2000" b="0" i="0" u="none" strike="noStrike" baseline="0" dirty="0">
              <a:solidFill>
                <a:srgbClr val="000000"/>
              </a:solidFill>
              <a:latin typeface="Symbol" panose="05050102010706020507" pitchFamily="18" charset="2"/>
            </a:endParaRPr>
          </a:p>
          <a:p>
            <a:pPr>
              <a:lnSpc>
                <a:spcPct val="150000"/>
              </a:lnSpc>
            </a:pPr>
            <a:r>
              <a:rPr lang="pt-BR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 - Crescimento no uso de táticas de investimentos por indivíduos de renda média e baixa. </a:t>
            </a:r>
          </a:p>
          <a:p>
            <a:pPr>
              <a:lnSpc>
                <a:spcPct val="150000"/>
              </a:lnSpc>
            </a:pPr>
            <a:r>
              <a:rPr lang="pt-BR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 - Melhoria no controle de finanças do público-alvo em questão. </a:t>
            </a:r>
          </a:p>
          <a:p>
            <a:pPr>
              <a:lnSpc>
                <a:spcPct val="150000"/>
              </a:lnSpc>
            </a:pPr>
            <a:r>
              <a:rPr lang="pt-BR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  - </a:t>
            </a:r>
            <a:r>
              <a:rPr lang="pt-BR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Aumento da expectativa quanto ao desenvolvimento econômico pessoal. </a:t>
            </a:r>
          </a:p>
        </p:txBody>
      </p:sp>
    </p:spTree>
    <p:extLst>
      <p:ext uri="{BB962C8B-B14F-4D97-AF65-F5344CB8AC3E}">
        <p14:creationId xmlns:p14="http://schemas.microsoft.com/office/powerpoint/2010/main" val="40120306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D70BFC5C-FA97-410F-A0A1-787B45309C13}"/>
              </a:ext>
            </a:extLst>
          </p:cNvPr>
          <p:cNvSpPr txBox="1"/>
          <p:nvPr/>
        </p:nvSpPr>
        <p:spPr>
          <a:xfrm>
            <a:off x="604911" y="590842"/>
            <a:ext cx="25795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i="1" dirty="0"/>
              <a:t>Cronograma</a:t>
            </a:r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029D7320-DAE4-47BA-8C3D-5DA72FC632EE}"/>
              </a:ext>
            </a:extLst>
          </p:cNvPr>
          <p:cNvCxnSpPr/>
          <p:nvPr/>
        </p:nvCxnSpPr>
        <p:spPr>
          <a:xfrm>
            <a:off x="604911" y="1237173"/>
            <a:ext cx="3405809" cy="0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" name="Imagem 2">
            <a:extLst>
              <a:ext uri="{FF2B5EF4-FFF2-40B4-BE49-F238E27FC236}">
                <a16:creationId xmlns:a16="http://schemas.microsoft.com/office/drawing/2014/main" id="{FEE0AC32-41FE-459E-96C7-BB32F261F2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2316" y="1440873"/>
            <a:ext cx="6619875" cy="50292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508261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D70BFC5C-FA97-410F-A0A1-787B45309C13}"/>
              </a:ext>
            </a:extLst>
          </p:cNvPr>
          <p:cNvSpPr txBox="1"/>
          <p:nvPr/>
        </p:nvSpPr>
        <p:spPr>
          <a:xfrm>
            <a:off x="604911" y="590842"/>
            <a:ext cx="23214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i="1" dirty="0"/>
              <a:t>Orçamento</a:t>
            </a:r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029D7320-DAE4-47BA-8C3D-5DA72FC632EE}"/>
              </a:ext>
            </a:extLst>
          </p:cNvPr>
          <p:cNvCxnSpPr/>
          <p:nvPr/>
        </p:nvCxnSpPr>
        <p:spPr>
          <a:xfrm>
            <a:off x="604911" y="1237173"/>
            <a:ext cx="3405809" cy="0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6" name="Imagem 5">
            <a:extLst>
              <a:ext uri="{FF2B5EF4-FFF2-40B4-BE49-F238E27FC236}">
                <a16:creationId xmlns:a16="http://schemas.microsoft.com/office/drawing/2014/main" id="{2F19BDD5-A005-4847-AC63-BD768B3F0D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7815" y="2261322"/>
            <a:ext cx="6743700" cy="2085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5545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D70BFC5C-FA97-410F-A0A1-787B45309C13}"/>
              </a:ext>
            </a:extLst>
          </p:cNvPr>
          <p:cNvSpPr txBox="1"/>
          <p:nvPr/>
        </p:nvSpPr>
        <p:spPr>
          <a:xfrm>
            <a:off x="604911" y="590842"/>
            <a:ext cx="23214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i="1" dirty="0"/>
              <a:t>Orçamento</a:t>
            </a:r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029D7320-DAE4-47BA-8C3D-5DA72FC632EE}"/>
              </a:ext>
            </a:extLst>
          </p:cNvPr>
          <p:cNvCxnSpPr/>
          <p:nvPr/>
        </p:nvCxnSpPr>
        <p:spPr>
          <a:xfrm>
            <a:off x="604911" y="1237173"/>
            <a:ext cx="3405809" cy="0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" name="Imagem 2">
            <a:extLst>
              <a:ext uri="{FF2B5EF4-FFF2-40B4-BE49-F238E27FC236}">
                <a16:creationId xmlns:a16="http://schemas.microsoft.com/office/drawing/2014/main" id="{32C70FD0-86A7-4274-88B9-04928195FF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800" y="1440554"/>
            <a:ext cx="6209907" cy="515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0381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D70BFC5C-FA97-410F-A0A1-787B45309C13}"/>
              </a:ext>
            </a:extLst>
          </p:cNvPr>
          <p:cNvSpPr txBox="1"/>
          <p:nvPr/>
        </p:nvSpPr>
        <p:spPr>
          <a:xfrm>
            <a:off x="604911" y="590842"/>
            <a:ext cx="23214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i="1" dirty="0"/>
              <a:t>Orçamento</a:t>
            </a:r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029D7320-DAE4-47BA-8C3D-5DA72FC632EE}"/>
              </a:ext>
            </a:extLst>
          </p:cNvPr>
          <p:cNvCxnSpPr/>
          <p:nvPr/>
        </p:nvCxnSpPr>
        <p:spPr>
          <a:xfrm>
            <a:off x="604911" y="1237173"/>
            <a:ext cx="3405809" cy="0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6" name="Imagem 5">
            <a:extLst>
              <a:ext uri="{FF2B5EF4-FFF2-40B4-BE49-F238E27FC236}">
                <a16:creationId xmlns:a16="http://schemas.microsoft.com/office/drawing/2014/main" id="{07C62304-5C36-44DF-B1A7-8775759688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225" y="1643496"/>
            <a:ext cx="6305550" cy="445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4238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D70BFC5C-FA97-410F-A0A1-787B45309C13}"/>
              </a:ext>
            </a:extLst>
          </p:cNvPr>
          <p:cNvSpPr txBox="1"/>
          <p:nvPr/>
        </p:nvSpPr>
        <p:spPr>
          <a:xfrm>
            <a:off x="536430" y="590842"/>
            <a:ext cx="23899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3600" b="1" i="1" dirty="0"/>
              <a:t>Referências</a:t>
            </a:r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029D7320-DAE4-47BA-8C3D-5DA72FC632EE}"/>
              </a:ext>
            </a:extLst>
          </p:cNvPr>
          <p:cNvCxnSpPr/>
          <p:nvPr/>
        </p:nvCxnSpPr>
        <p:spPr>
          <a:xfrm>
            <a:off x="604911" y="1237173"/>
            <a:ext cx="3405809" cy="0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CaixaDeTexto 6">
            <a:extLst>
              <a:ext uri="{FF2B5EF4-FFF2-40B4-BE49-F238E27FC236}">
                <a16:creationId xmlns:a16="http://schemas.microsoft.com/office/drawing/2014/main" id="{9BCA01FE-B570-4318-A937-AB4E201C6A27}"/>
              </a:ext>
            </a:extLst>
          </p:cNvPr>
          <p:cNvSpPr txBox="1"/>
          <p:nvPr/>
        </p:nvSpPr>
        <p:spPr>
          <a:xfrm>
            <a:off x="604911" y="1457880"/>
            <a:ext cx="10404763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Android, Documentos. 2021, Disponível em: &lt;https://developer.android.com/</a:t>
            </a:r>
            <a:r>
              <a:rPr lang="pt-BR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studio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pt-BR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intro?hl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=</a:t>
            </a:r>
            <a:r>
              <a:rPr lang="pt-BR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pt-br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&gt;. </a:t>
            </a:r>
          </a:p>
          <a:p>
            <a:endParaRPr lang="pt-BR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Boletim diário do mercado | B3, 2021, Disponível em: http://www.b3.com.br/</a:t>
            </a:r>
            <a:r>
              <a:rPr lang="pt-BR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pt_br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pt-BR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market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-data-e-</a:t>
            </a:r>
            <a:r>
              <a:rPr lang="pt-BR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indices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pt-BR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servicos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-</a:t>
            </a:r>
            <a:r>
              <a:rPr lang="pt-BR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de-dados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pt-BR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market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-data/consultas/boletim-</a:t>
            </a:r>
            <a:r>
              <a:rPr lang="pt-BR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diario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/boletim-</a:t>
            </a:r>
            <a:r>
              <a:rPr lang="pt-BR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diario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-do-mercado/. </a:t>
            </a:r>
          </a:p>
          <a:p>
            <a:endParaRPr lang="pt-BR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pt-BR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Castelar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, A., Organizadores, J. </a:t>
            </a:r>
            <a:r>
              <a:rPr lang="pt-BR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and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pt-BR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Sicsú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, J. ([S.d.]), Disponível em: https://www.ipea.gov.br/portal/</a:t>
            </a:r>
            <a:r>
              <a:rPr lang="pt-BR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images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/stories/</a:t>
            </a:r>
            <a:r>
              <a:rPr lang="pt-BR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PDFs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/livros/livro_sociedadeeeconomia.pdf. </a:t>
            </a:r>
          </a:p>
          <a:p>
            <a:endParaRPr lang="pt-BR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Cordeiro, N. J. N., Costa, M. G. V. e Silva, M. N. (2018) “EDUCAÇÃO FINANCEIRA NO BRASIL: uma perspectiva panorâmica”, Ensino da Matemática em Debate, ISSN 2358-4122</a:t>
            </a:r>
            <a:r>
              <a:rPr lang="pt-BR" sz="1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, 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São Paulo, v. 5, n. 1, p. 69-84, Disponível em: https://revistas.pucsp.br/</a:t>
            </a:r>
            <a:r>
              <a:rPr lang="pt-BR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emd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pt-BR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article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pt-BR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view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/36841. </a:t>
            </a:r>
          </a:p>
          <a:p>
            <a:endParaRPr lang="pt-BR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pt-BR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EdrawMax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| Ferramenta de Diagramação Tudo em Um , 2021, Disponível em: https://www.edrawsoft.com/</a:t>
            </a:r>
            <a:r>
              <a:rPr lang="pt-BR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pt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pt-BR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edraw-max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/. </a:t>
            </a:r>
          </a:p>
          <a:p>
            <a:endParaRPr lang="pt-BR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Facebook, 2021, Disponível em: https://www.facebook.com/.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022793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913268C0-86AF-4ED7-A977-D6113544461D}"/>
              </a:ext>
            </a:extLst>
          </p:cNvPr>
          <p:cNvSpPr txBox="1"/>
          <p:nvPr/>
        </p:nvSpPr>
        <p:spPr>
          <a:xfrm>
            <a:off x="387927" y="474254"/>
            <a:ext cx="11637818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solidFill>
                  <a:srgbClr val="000000"/>
                </a:solidFill>
                <a:latin typeface="Times New Roman" panose="02020603050405020304" pitchFamily="18" charset="0"/>
              </a:rPr>
              <a:t>Ferreira, J. C. (2017) “A importância da Educação Financeira Pessoal para a Qualidade de Vida”, Revista do Departamento de Administração da FEA, Caderno de Administração, ISSN 1414-7394, Disponível em: https://revistas.pucsp.br/</a:t>
            </a:r>
            <a:r>
              <a:rPr lang="pt-BR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caadm</a:t>
            </a:r>
            <a:r>
              <a:rPr lang="pt-BR" dirty="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pt-BR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article</a:t>
            </a:r>
            <a:r>
              <a:rPr lang="pt-BR" dirty="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pt-BR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view</a:t>
            </a:r>
            <a:r>
              <a:rPr lang="pt-BR" dirty="0">
                <a:solidFill>
                  <a:srgbClr val="000000"/>
                </a:solidFill>
                <a:latin typeface="Times New Roman" panose="02020603050405020304" pitchFamily="18" charset="0"/>
              </a:rPr>
              <a:t>/33268. </a:t>
            </a:r>
          </a:p>
          <a:p>
            <a:endParaRPr lang="pt-BR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pt-BR" dirty="0">
                <a:solidFill>
                  <a:srgbClr val="000000"/>
                </a:solidFill>
                <a:latin typeface="Times New Roman" panose="02020603050405020304" pitchFamily="18" charset="0"/>
              </a:rPr>
              <a:t>Ferreira, J. B., Silva, F. S. S., Ferreira, M. F., “A Relevância dos Sistemas de Informação para tomadas de decisões: Estudo de caso em uma corretora de seguros do Alto Paranaíba/MG”, Revista Eletrônica de Sistemas de Informação e Gestão Tecnológica, </a:t>
            </a:r>
            <a:r>
              <a:rPr lang="pt-BR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RESIGeT</a:t>
            </a:r>
            <a:r>
              <a:rPr lang="pt-BR" dirty="0">
                <a:solidFill>
                  <a:srgbClr val="000000"/>
                </a:solidFill>
                <a:latin typeface="Times New Roman" panose="02020603050405020304" pitchFamily="18" charset="0"/>
              </a:rPr>
              <a:t>, v.9, n.1, 2018. </a:t>
            </a:r>
          </a:p>
          <a:p>
            <a:endParaRPr lang="pt-BR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pt-BR" dirty="0">
                <a:solidFill>
                  <a:srgbClr val="000000"/>
                </a:solidFill>
                <a:latin typeface="Times New Roman" panose="02020603050405020304" pitchFamily="18" charset="0"/>
              </a:rPr>
              <a:t>Fiori, D. D., Mafra, R. Z., Fernandes, T. A., Filho, J. B. e Nascimento, L. R. C. (2017) “O efeito da Educação Financeira sobre a relação entre adimplência e trabalhadores na cidade de Manaus”, Revista do Instituto de Ciências Econômicas, Administrativas e Contábeis, SINERGIA, ISSN 0102-7360, Rio Grande, v. 21, n. 2, p.31-45, Disponível em: https://seer.furg.br/sinergia/</a:t>
            </a:r>
            <a:r>
              <a:rPr lang="pt-BR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article</a:t>
            </a:r>
            <a:r>
              <a:rPr lang="pt-BR" dirty="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pt-BR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view</a:t>
            </a:r>
            <a:r>
              <a:rPr lang="pt-BR" dirty="0">
                <a:solidFill>
                  <a:srgbClr val="000000"/>
                </a:solidFill>
                <a:latin typeface="Times New Roman" panose="02020603050405020304" pitchFamily="18" charset="0"/>
              </a:rPr>
              <a:t>/7215. </a:t>
            </a:r>
          </a:p>
          <a:p>
            <a:endParaRPr lang="pt-BR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pt-BR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Firebase</a:t>
            </a:r>
            <a:r>
              <a:rPr lang="pt-BR" dirty="0">
                <a:solidFill>
                  <a:srgbClr val="000000"/>
                </a:solidFill>
                <a:latin typeface="Times New Roman" panose="02020603050405020304" pitchFamily="18" charset="0"/>
              </a:rPr>
              <a:t>, Documentos, 2021, Disponível em: &lt;https: //firebase.google.com/</a:t>
            </a:r>
            <a:r>
              <a:rPr lang="pt-BR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products-build?hl</a:t>
            </a:r>
            <a:r>
              <a:rPr lang="pt-BR" dirty="0">
                <a:solidFill>
                  <a:srgbClr val="000000"/>
                </a:solidFill>
                <a:latin typeface="Times New Roman" panose="02020603050405020304" pitchFamily="18" charset="0"/>
              </a:rPr>
              <a:t>=</a:t>
            </a:r>
            <a:r>
              <a:rPr lang="pt-BR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pt-br</a:t>
            </a:r>
            <a:r>
              <a:rPr lang="pt-BR" dirty="0">
                <a:solidFill>
                  <a:srgbClr val="000000"/>
                </a:solidFill>
                <a:latin typeface="Times New Roman" panose="02020603050405020304" pitchFamily="18" charset="0"/>
              </a:rPr>
              <a:t>&gt;. </a:t>
            </a:r>
          </a:p>
          <a:p>
            <a:endParaRPr lang="pt-BR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Gerhardt e Silveira, 2009, Métodos de Pesquisa, Livro, Disponível em: https://docero.com.br/</a:t>
            </a:r>
            <a:r>
              <a:rPr lang="pt-BR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doc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/en5vxs. </a:t>
            </a:r>
          </a:p>
          <a:p>
            <a:endParaRPr lang="pt-BR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pt-BR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GForms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, 2020, Disponível em: &lt;https://docs.google.com/</a:t>
            </a:r>
            <a:r>
              <a:rPr lang="pt-BR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forms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/u/0/&gt;. </a:t>
            </a:r>
          </a:p>
          <a:p>
            <a:endParaRPr lang="pt-BR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Gil, A. C., Métodos e técnicas de pesquisa social. 4. ed. São Paulo: Atlas, 2008. </a:t>
            </a:r>
          </a:p>
          <a:p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Instagram, 2018, Disponível em: https://www.instagram.com/ </a:t>
            </a:r>
            <a:endParaRPr lang="pt-BR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87062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D2802BCE-D456-47BB-B8CD-BA8B9CEB3C1B}"/>
              </a:ext>
            </a:extLst>
          </p:cNvPr>
          <p:cNvSpPr txBox="1"/>
          <p:nvPr/>
        </p:nvSpPr>
        <p:spPr>
          <a:xfrm>
            <a:off x="187036" y="335248"/>
            <a:ext cx="11817927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Kotlinlang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, Documentos, 2020, Disponível em: &lt;https://kotlinlang.org/</a:t>
            </a:r>
            <a:r>
              <a:rPr lang="pt-BR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docs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/home.html&gt;. </a:t>
            </a:r>
          </a:p>
          <a:p>
            <a:endParaRPr lang="pt-BR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Leite, G. G. et al., “No$$o Dinheiro: Um jogo sério para introdução à educação financeira”, Revista de Educação Ciência e Tecnologia, v.9, n.1, 2020. </a:t>
            </a:r>
          </a:p>
          <a:p>
            <a:endParaRPr lang="pt-BR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Linhares, F. S., Costa, F. M. de., </a:t>
            </a:r>
            <a:r>
              <a:rPr lang="pt-BR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Beiruth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, A. X., “Gerenciamento de resultados e eficiência de investimentos”, Revista Brasileira de gestão de negócios, RBGN, ISSN 1806-4892, São Paulo, v.20, n2, p.295-310, 2018. </a:t>
            </a:r>
          </a:p>
          <a:p>
            <a:endParaRPr lang="pt-BR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Martins, B., Tomada de decisão: analisando o uso de Sistemas de Informação na empresa </a:t>
            </a:r>
            <a:r>
              <a:rPr lang="pt-BR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Joagro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ferragens de Estrela / RS. CENTRO UNIVERSITÁRIO INIVATES. Lajeado, novembro de 2014. </a:t>
            </a:r>
          </a:p>
          <a:p>
            <a:endParaRPr lang="pt-BR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Barros Neto, 2011, “Modelagem em geometria digital aprimorada por técnicas adaptativas de segmentos de retas”, Laboratório de Linguagens e Técnicas Adaptativas. </a:t>
            </a:r>
          </a:p>
          <a:p>
            <a:endParaRPr lang="pt-BR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Oracle, Documentos, Disponível em: &lt;https: //www.oracle.com/</a:t>
            </a:r>
            <a:r>
              <a:rPr lang="pt-BR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br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pt-BR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java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/&gt;. </a:t>
            </a:r>
          </a:p>
          <a:p>
            <a:endParaRPr lang="pt-BR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Pontes, A. N., Tomazela, M. G. J. M., Alves, D. C. (2017) “NICO: Aplicativo para auxiliar na Educação Financeira de crianças do ensino fundamental”, Revista Fatec Zona Sul, </a:t>
            </a:r>
            <a:r>
              <a:rPr lang="pt-BR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Refas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, 2017, ISSN 2359-182X, Disponível em: http://www.revistarefas.com.br/</a:t>
            </a:r>
            <a:r>
              <a:rPr lang="pt-BR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index.php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pt-BR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RevFATECZS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pt-BR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article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pt-BR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view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/125/134. </a:t>
            </a:r>
          </a:p>
          <a:p>
            <a:endParaRPr lang="pt-BR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Ramos, B. S., “Desenvolvimento de um aplicativo para controle financeiro pessoal”, 49p., Monografia (Curso de Engenharia da Computação do Instituto de Ciências Exatas e Aplicadas) - Universidade Federal de Ouro Preto, João Monlevade – MG, abr. 2021. </a:t>
            </a:r>
          </a:p>
          <a:p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417244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43CF5160-50A9-4C1B-8FFC-FB7757885EB8}"/>
              </a:ext>
            </a:extLst>
          </p:cNvPr>
          <p:cNvSpPr txBox="1"/>
          <p:nvPr/>
        </p:nvSpPr>
        <p:spPr>
          <a:xfrm>
            <a:off x="173182" y="543112"/>
            <a:ext cx="1184563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React Native · Learn once, write anywhere, 2021,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Disponível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em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: https://reactnative.dev/ </a:t>
            </a:r>
          </a:p>
          <a:p>
            <a:endParaRPr lang="en-US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Santos, R., “A Importância da satisfação do usuário para o </a:t>
            </a:r>
            <a:r>
              <a:rPr lang="pt-BR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porjeto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de </a:t>
            </a:r>
            <a:r>
              <a:rPr lang="pt-BR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interaces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”. </a:t>
            </a:r>
            <a:r>
              <a:rPr lang="pt-BR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Anias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de 3° Congresso </a:t>
            </a:r>
            <a:r>
              <a:rPr lang="pt-BR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Internecional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de Ergonomia e Usabilidade Design </a:t>
            </a:r>
            <a:r>
              <a:rPr lang="pt-BR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Interace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e Interação </a:t>
            </a:r>
            <a:r>
              <a:rPr lang="pt-BR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Homem-Computador.Rio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de Janeiro: PUC,2004. </a:t>
            </a:r>
          </a:p>
          <a:p>
            <a:endParaRPr lang="pt-BR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Visual Studio Code, 2021, Disponível em: https://code.visualstudio.com/. </a:t>
            </a:r>
          </a:p>
          <a:p>
            <a:endParaRPr lang="pt-BR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WhatsApp, 2021, Disponível em: https://www.whatsapp.com/?</a:t>
            </a:r>
            <a:r>
              <a:rPr lang="pt-BR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lang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=</a:t>
            </a:r>
            <a:r>
              <a:rPr lang="pt-BR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pt_br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.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8836920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</TotalTime>
  <Words>1440</Words>
  <Application>Microsoft Office PowerPoint</Application>
  <PresentationFormat>Widescreen</PresentationFormat>
  <Paragraphs>123</Paragraphs>
  <Slides>16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23" baseType="lpstr">
      <vt:lpstr>Arial</vt:lpstr>
      <vt:lpstr>Calibri</vt:lpstr>
      <vt:lpstr>Calibri Light</vt:lpstr>
      <vt:lpstr>Symbol</vt:lpstr>
      <vt:lpstr>Times New Roman</vt:lpstr>
      <vt:lpstr>Wingdings</vt:lpstr>
      <vt:lpstr>Tema do Office</vt:lpstr>
      <vt:lpstr>  Gconomy: Um Aplicativo para Auxílio no Ensino Financeiro e Práticas de Investimentos para Indivíduos de Média e Baixa Renda 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Gconomy: Um Aplicativo para Auxílio no Ensino Financeiro e Práticas de Investimentos para Indivíduos de Média e Baixa Renda</dc:title>
  <dc:creator>Josué</dc:creator>
  <cp:lastModifiedBy>Josué</cp:lastModifiedBy>
  <cp:revision>9</cp:revision>
  <dcterms:created xsi:type="dcterms:W3CDTF">2021-08-25T12:13:07Z</dcterms:created>
  <dcterms:modified xsi:type="dcterms:W3CDTF">2021-08-27T13:36:20Z</dcterms:modified>
</cp:coreProperties>
</file>